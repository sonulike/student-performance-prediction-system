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0113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Performance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System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68680" y="3657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Capstone Project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68680" y="4343400"/>
            <a:ext cx="146304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53949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7E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Soham Mukherjee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7E2EE"/>
                </a:solidFill>
                <a:latin typeface="Arial" pitchFamily="34" charset="0"/>
                <a:cs typeface="Arial" pitchFamily="34" charset="-120"/>
              </a:rPr>
              <a:t>Domain – Machine Learning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7E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Capstone - SkillOrbit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365760" cy="36576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15544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 &amp; 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221992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21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217627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Preprocessing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843784"/>
            <a:ext cx="365760" cy="36576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437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798064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3465576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4655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4198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Models &amp; Results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1520" y="4087368"/>
            <a:ext cx="365760" cy="36576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087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04164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Dashboard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1520" y="4709160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709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4663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System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31520" y="5330952"/>
            <a:ext cx="365760" cy="36576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330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528523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Scope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Performance Prediction System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machine learning system that analyzes student academic data to predict exam performance and generate targeted improvement recommendations - built around the workflow used in real EdTech and academic analytics platforms.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0" y="128016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20840" y="1508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720840" y="210312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student academic 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20840" y="281635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performance levels (Low/Average/High)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20840" y="3529584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key factors affecting performance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20840" y="4242816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personalized insights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20840" y="495604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 analytics through a dashboard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Performance Prediction System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StudentPerformanceFactors.csv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6,607 student records  |  20 columns  |  Target: Exam_Score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7F8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5603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Habits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25603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Hours_Studied, Attendance, Tutoring_Sessions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456432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45643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Environment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345643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Parental_Involvement, Family_Income, Parental_Education_Level, Distance_from_Home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352544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7F8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352544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Factors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4352544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Sleep_Hours, Motivation_Level, Physical_Activity, Learning_Disabilities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248656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248656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0" y="5248656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Access_to_Resources, Internet_Access, Teacher_Quality, School_Type, Peer_Influence, Gender, Extracurricular_Activities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Performance Prediction System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Preprocessing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457200" cy="4572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categorical columns had gaps (67-90 rows). Filled with mode instead of dropping rows.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737360"/>
            <a:ext cx="457200" cy="4572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2331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26974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and confirmed - none found in the dataset.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4023360"/>
            <a:ext cx="457200" cy="4572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617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9834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Ordinal columns (Low/Medium/High) mapped to 0/1/2 to preserve order; binary Yes/No columns mapped to 1/0.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374904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4023360"/>
            <a:ext cx="457200" cy="4572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4617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37960" y="49834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 features standardized with StandardScaler for the Linear Regression model.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Performance Prediction System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distribution &amp; the two strongest predictors</a:t>
            </a:r>
            <a:endParaRPr lang="en-US" sz="1400" dirty="0"/>
          </a:p>
        </p:txBody>
      </p:sp>
      <p:pic>
        <p:nvPicPr>
          <p:cNvPr id="4" name="Image 0" descr="figures/01_scor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5120640" cy="3200400"/>
          </a:xfrm>
          <a:prstGeom prst="rect">
            <a:avLst/>
          </a:prstGeom>
        </p:spPr>
      </p:pic>
      <p:pic>
        <p:nvPicPr>
          <p:cNvPr id="5" name="Image 1" descr="figures/02_attendance_study_vs_sc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737360"/>
            <a:ext cx="5760720" cy="22128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852160" y="411480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and study hours both show a clear positive relationship with exam score.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Performance Prediction System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Heatmap</a:t>
            </a:r>
            <a:endParaRPr lang="en-US" sz="3000" dirty="0"/>
          </a:p>
        </p:txBody>
      </p:sp>
      <p:pic>
        <p:nvPicPr>
          <p:cNvPr id="3" name="Image 0" descr="figures/03_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1234440"/>
            <a:ext cx="6400800" cy="5120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Performance Prediction System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by Parental Involvement &amp; Peer Influence</a:t>
            </a:r>
            <a:endParaRPr lang="en-US" sz="3000" dirty="0"/>
          </a:p>
        </p:txBody>
      </p:sp>
      <p:pic>
        <p:nvPicPr>
          <p:cNvPr id="3" name="Image 0" descr="figures/04_box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63040"/>
            <a:ext cx="10332720" cy="3977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parental involvement and more positive peer influence nudge scores up, though the spread within each group stays large.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Performance Prediction System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Exam Score (Regression)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5486400" cy="18592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R2 Score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 Regression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0.444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1.799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1.228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2.243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0.644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 Tree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1.645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2.676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0.493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5661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 wins - the relationship between the top features and Exam_Score is close to linear, so the tree models' extra flexibility didn't help and led to mild overfitting.</a:t>
            </a:r>
            <a:endParaRPr lang="en-US" sz="1300" dirty="0"/>
          </a:p>
        </p:txBody>
      </p:sp>
      <p:pic>
        <p:nvPicPr>
          <p:cNvPr id="5" name="Image 0" descr="figures/05_actual_vs_predi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5486400" cy="3429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Performance Prediction System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Performance Level (Classification)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4114800" cy="128016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78.97%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 Tree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71.94%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2926080"/>
            <a:ext cx="4114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generalizes better than a single Decision Tree. Most errors happen between adjacent classes (Low &lt;-&gt; Average), not Low &lt;-&gt; High.</a:t>
            </a:r>
            <a:endParaRPr lang="en-US" sz="1300" dirty="0"/>
          </a:p>
        </p:txBody>
      </p:sp>
      <p:pic>
        <p:nvPicPr>
          <p:cNvPr id="5" name="Image 0" descr="figures/06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280160"/>
            <a:ext cx="3291840" cy="2057400"/>
          </a:xfrm>
          <a:prstGeom prst="rect">
            <a:avLst/>
          </a:prstGeom>
        </p:spPr>
      </p:pic>
      <p:pic>
        <p:nvPicPr>
          <p:cNvPr id="6" name="Image 1" descr="figures/07_feature_import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280160"/>
            <a:ext cx="3520440" cy="219456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Performance Prediction System</a:t>
            </a:r>
            <a:endParaRPr lang="en-US" sz="1000" dirty="0"/>
          </a:p>
        </p:txBody>
      </p:sp>
      <p:sp>
        <p:nvSpPr>
          <p:cNvPr id="8" name="Text 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Streamlit app (dashboard.py) - pick a student, see predicted score, performance level, class comparison, and trend position.</a:t>
            </a:r>
            <a:endParaRPr lang="en-US" sz="1400" dirty="0"/>
          </a:p>
        </p:txBody>
      </p:sp>
      <p:pic>
        <p:nvPicPr>
          <p:cNvPr id="4" name="Image 0" descr="figures/08_dashboard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1600200"/>
            <a:ext cx="6858000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Performance Prediction System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engine comparing each student to class medians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6400800" cy="594360"/>
          </a:xfrm>
          <a:prstGeom prst="roundRect">
            <a:avLst>
              <a:gd name="adj" fmla="val 12308"/>
            </a:avLst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5852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weekly study hours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6400800" cy="594360"/>
          </a:xfrm>
          <a:prstGeom prst="roundRect">
            <a:avLst>
              <a:gd name="adj" fmla="val 12308"/>
            </a:avLst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560320"/>
            <a:ext cx="5852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class attendance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291840"/>
            <a:ext cx="6400800" cy="594360"/>
          </a:xfrm>
          <a:prstGeom prst="roundRect">
            <a:avLst>
              <a:gd name="adj" fmla="val 12308"/>
            </a:avLst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291840"/>
            <a:ext cx="5852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weak foundational topics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4023360"/>
            <a:ext cx="6400800" cy="594360"/>
          </a:xfrm>
          <a:prstGeom prst="roundRect">
            <a:avLst>
              <a:gd name="adj" fmla="val 12308"/>
            </a:avLst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023360"/>
            <a:ext cx="5852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 more tutoring / practice sessions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754880"/>
            <a:ext cx="6400800" cy="594360"/>
          </a:xfrm>
          <a:prstGeom prst="roundRect">
            <a:avLst>
              <a:gd name="adj" fmla="val 12308"/>
            </a:avLst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754880"/>
            <a:ext cx="5852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more consistent sleep routine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0" y="182880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rule-based?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0" y="26517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ML model here on purpose - the thresholds are directly interpretable, which matters more than raw predictive power when a student or teacher has to act on the output.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Performance Prediction System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&amp;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F7F8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46304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377440" y="14630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59152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59152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77440" y="2359152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Pandas, NumPy, Scikit-learn, Matplotlib, Seaborn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55264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F7F8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255264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77440" y="3255264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51376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151376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77440" y="4151376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Cloud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1051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0" y="1463040"/>
            <a:ext cx="5120640" cy="502920"/>
          </a:xfrm>
          <a:prstGeom prst="roundRect">
            <a:avLst>
              <a:gd name="adj" fmla="val 5090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14630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Dataset Collection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2084832"/>
            <a:ext cx="5120640" cy="502920"/>
          </a:xfrm>
          <a:prstGeom prst="roundRect">
            <a:avLst>
              <a:gd name="adj" fmla="val 5090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08483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Data Cleaning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2706624"/>
            <a:ext cx="5120640" cy="502920"/>
          </a:xfrm>
          <a:prstGeom prst="roundRect">
            <a:avLst>
              <a:gd name="adj" fmla="val 5090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270662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EDA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3328416"/>
            <a:ext cx="5120640" cy="502920"/>
          </a:xfrm>
          <a:prstGeom prst="roundRect">
            <a:avLst>
              <a:gd name="adj" fmla="val 5090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332841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Model Development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3950208"/>
            <a:ext cx="5120640" cy="502920"/>
          </a:xfrm>
          <a:prstGeom prst="roundRect">
            <a:avLst>
              <a:gd name="adj" fmla="val 5090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395020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Prediction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0" y="4572000"/>
            <a:ext cx="5120640" cy="502920"/>
          </a:xfrm>
          <a:prstGeom prst="roundRect">
            <a:avLst>
              <a:gd name="adj" fmla="val 5090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45720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Dashboard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0" y="5193792"/>
            <a:ext cx="5120640" cy="502920"/>
          </a:xfrm>
          <a:prstGeom prst="roundRect">
            <a:avLst>
              <a:gd name="adj" fmla="val 5090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519379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 Recommendations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Performance Prediction System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Attendance, study hours &amp; previous scores are the strongest predictors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 best for exact score prediction (R2 = 0.77)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best for performance-level classification (79% accuracy)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09360" y="18745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 tuning (GridSearchCV)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260604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 models (XGBoost)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333756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Subject-wise marks for finer recommendations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Performance Prediction System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68680" y="3703320"/>
            <a:ext cx="146304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3931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714</Words>
  <Application>Microsoft Office PowerPoint</Application>
  <PresentationFormat>Widescreen</PresentationFormat>
  <Paragraphs>160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Soham Mukherjee</cp:lastModifiedBy>
  <cp:revision>3</cp:revision>
  <dcterms:created xsi:type="dcterms:W3CDTF">2026-08-08T04:30:11Z</dcterms:created>
  <dcterms:modified xsi:type="dcterms:W3CDTF">2026-08-12T06:28:09Z</dcterms:modified>
</cp:coreProperties>
</file>